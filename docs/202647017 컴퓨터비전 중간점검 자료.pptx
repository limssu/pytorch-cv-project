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retendard Black" panose="02000A03000000020004" pitchFamily="50" charset="-127"/>
      <p:bold r:id="rId13"/>
    </p:embeddedFont>
    <p:embeddedFont>
      <p:font typeface="Pretendard Medium" panose="02000603000000020004" pitchFamily="50" charset="-127"/>
      <p:regular r:id="rId14"/>
    </p:embeddedFont>
    <p:embeddedFont>
      <p:font typeface="Pretendard SemiBold" panose="02000703000000020004" pitchFamily="50" charset="-127"/>
      <p:bold r:id="rId15"/>
    </p:embeddedFont>
    <p:embeddedFont>
      <p:font typeface="PT Sans" panose="020B0503020203020204" pitchFamily="34" charset="0"/>
      <p:regular r:id="rId16"/>
      <p:bold r:id="rId17"/>
      <p:italic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11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1224" y="1588145"/>
            <a:ext cx="444052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딥러닝 기반 반도체 웨이퍼 이상 탐지 및 데이터 파이프라인 구축 현황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3012376" y="2449190"/>
            <a:ext cx="271625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대규모 WM-811K 데이터셋 가공·분할</a:t>
            </a:r>
            <a:endParaRPr lang="ko-KR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11C4FAC-034B-E7C1-C90D-413DEC474711}"/>
              </a:ext>
            </a:extLst>
          </p:cNvPr>
          <p:cNvGrpSpPr/>
          <p:nvPr/>
        </p:nvGrpSpPr>
        <p:grpSpPr>
          <a:xfrm>
            <a:off x="3749532" y="3144069"/>
            <a:ext cx="1503908" cy="309711"/>
            <a:chOff x="3952577" y="3084909"/>
            <a:chExt cx="1503908" cy="309711"/>
          </a:xfrm>
        </p:grpSpPr>
        <p:sp>
          <p:nvSpPr>
            <p:cNvPr id="5" name="Shape 2"/>
            <p:cNvSpPr/>
            <p:nvPr/>
          </p:nvSpPr>
          <p:spPr>
            <a:xfrm>
              <a:off x="3952577" y="3084909"/>
              <a:ext cx="1150739" cy="309711"/>
            </a:xfrm>
            <a:prstGeom prst="roundRect">
              <a:avLst>
                <a:gd name="adj" fmla="val 57969"/>
              </a:avLst>
            </a:prstGeom>
            <a:noFill/>
            <a:ln w="14288">
              <a:solidFill>
                <a:srgbClr val="F2B4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4056608" y="3144069"/>
              <a:ext cx="1399877" cy="1913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ko-KR" altLang="en-US" sz="900" dirty="0">
                  <a:solidFill>
                    <a:srgbClr val="F2B42D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202647017 임수정</a:t>
              </a:r>
              <a:endParaRPr lang="ko-KR" sz="9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242" y="299763"/>
            <a:ext cx="3604171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프로젝트 개요 및 연구 목표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39" y="1342457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반도체 제조 현장에서 발생하는 </a:t>
            </a:r>
            <a:r>
              <a:rPr lang="ko-KR" altLang="en-US" sz="115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극심한 데이터 불균형</a:t>
            </a:r>
            <a:r>
              <a:rPr lang="ko-KR" altLang="en-US" sz="11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문제를 해결하기 위해, </a:t>
            </a:r>
            <a:r>
              <a:rPr lang="ko-KR" altLang="en-US" sz="1150" b="1" dirty="0">
                <a:solidFill>
                  <a:srgbClr val="F2B42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정상 데이터만 활용</a:t>
            </a:r>
            <a:r>
              <a:rPr lang="ko-KR" altLang="en-US" sz="11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하는 비지도 학습 기반 이상 탐지 시스템을 구축하는 것이 본 프로젝트의 핵심 목표입니다.</a:t>
            </a:r>
            <a:endParaRPr lang="ko-KR" sz="11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23577" y="2436406"/>
            <a:ext cx="2599209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7437" y="260026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🔍</a:t>
            </a:r>
            <a:r>
              <a:rPr lang="ko-KR" altLang="en-US" sz="13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문제 인식</a:t>
            </a:r>
            <a:endParaRPr lang="ko-KR" sz="13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7437" y="2909977"/>
            <a:ext cx="22714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불량 데이터가 극도로 희소하여 지도 학습 적용 시 성능 왜곡 발생</a:t>
            </a:r>
            <a:endParaRPr lang="ko-KR" sz="11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72358" y="2436406"/>
            <a:ext cx="2599209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36218" y="260026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🧠</a:t>
            </a:r>
            <a:r>
              <a:rPr lang="ko-KR" altLang="en-US" sz="13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접근 방식</a:t>
            </a:r>
            <a:endParaRPr lang="ko-KR" sz="13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36218" y="2909977"/>
            <a:ext cx="22714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정상의 표준을 학습시키는 비지도 학습 기반 이상 탐지</a:t>
            </a:r>
            <a:endParaRPr lang="ko-KR" sz="11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21139" y="2436406"/>
            <a:ext cx="2599283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4999" y="260026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⚙️</a:t>
            </a:r>
            <a:r>
              <a:rPr lang="ko-KR" altLang="en-US" sz="13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인프라 이관</a:t>
            </a:r>
            <a:endParaRPr lang="ko-KR" sz="13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4999" y="2909977"/>
            <a:ext cx="22715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구글 코랩 한계 극복, AWS EC2 기반 대규모 파이프라인 구축</a:t>
            </a:r>
            <a:endParaRPr lang="ko-KR" sz="11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3370" y="330473"/>
            <a:ext cx="3397076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데이터셋 개요 — WM-811K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99" y="858143"/>
            <a:ext cx="7386002" cy="20385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982" y="3109689"/>
            <a:ext cx="19698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 규모 및 형태</a:t>
            </a:r>
            <a:endParaRPr lang="ko-KR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9982" y="3476699"/>
            <a:ext cx="8244036" cy="65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총 </a:t>
            </a: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811,457장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실제 반도체 팹(FAB) 수집 데이터</a:t>
            </a:r>
            <a:endParaRPr lang="en-US" altLang="ko-KR" sz="12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행렬(Matrix) 구조의 센서 맵 (0: 배경, 1: 정상, 2: 결함)</a:t>
            </a:r>
            <a:endParaRPr lang="en-US" altLang="ko-KR" sz="12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Center, Donut, Edge-Ring, Scratch, Random 등 </a:t>
            </a: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8가지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공정 불량 패턴 정의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297" y="312279"/>
            <a:ext cx="3008263" cy="2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WM-811K 결함 유형 분포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55" y="889322"/>
            <a:ext cx="3798912" cy="379891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55" y="889322"/>
            <a:ext cx="3798912" cy="379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0235" y="1392920"/>
            <a:ext cx="1887289" cy="24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8가지 공정 불량 패턴</a:t>
            </a:r>
            <a:endParaRPr lang="ko-KR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4720235" y="1861347"/>
            <a:ext cx="3798912" cy="710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WM-811K 데이터셋은 실제 반도체 제조 공정에서 발생하는 다양한 불량 유형을 포함합니다. 각 패턴은 공정 단계별 문제 원인을 진단하는 데 중요한 단서를 제공합니다.</a:t>
            </a:r>
            <a:endParaRPr lang="ko-KR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4708068" y="3088695"/>
            <a:ext cx="3798912" cy="803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Center / Donut:</a:t>
            </a:r>
            <a:r>
              <a:rPr lang="ko-KR" altLang="en-US" sz="13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노광·식각 공정 이상</a:t>
            </a:r>
            <a:endParaRPr lang="ko-KR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Edge-Ring:</a:t>
            </a:r>
            <a:r>
              <a:rPr lang="ko-KR" altLang="en-US" sz="13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연마·세정 공정 문제</a:t>
            </a:r>
            <a:endParaRPr lang="ko-KR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Scratch / Random:</a:t>
            </a:r>
            <a:r>
              <a:rPr lang="ko-KR" altLang="en-US" sz="13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물리적 손상 및 불규칙 불량</a:t>
            </a:r>
            <a:endParaRPr lang="ko-KR" sz="1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40" y="0"/>
            <a:ext cx="313076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947" y="317514"/>
            <a:ext cx="5651628" cy="649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 정제(Sanitization) 및 노이즈 필터링 전략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3673" y="1014161"/>
            <a:ext cx="495472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전체 81만 장 중 </a:t>
            </a:r>
            <a:r>
              <a:rPr lang="ko-KR" altLang="en-US" sz="1200" b="1" dirty="0">
                <a:solidFill>
                  <a:srgbClr val="D7425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78.7%(638,507장)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 라벨 없는 Unlabeled 데이터로 방치되어 있었습니다. 비지도 학습의 특성상 오염 방지를 위해 과감한 필터링을 수행했습니다.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73" y="1933426"/>
            <a:ext cx="5089337" cy="8096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6813" y="2090365"/>
            <a:ext cx="162259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🔎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문제 발견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696813" y="2374255"/>
            <a:ext cx="437852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Unlabeled 데이터 내부에 미지의 공정 결함이 노이즈로 혼재될 가능성 높음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674" y="2870225"/>
            <a:ext cx="5089338" cy="8096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6813" y="3027164"/>
            <a:ext cx="162259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🗑️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전수 제거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96813" y="3311054"/>
            <a:ext cx="437852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638,507장의 Unlabeled 데이터를 과감히 제거하여 Feature Space 오염 방지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674" y="3807023"/>
            <a:ext cx="5089338" cy="8096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6813" y="3963963"/>
            <a:ext cx="162259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✅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고신뢰성 확보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96813" y="4247852"/>
            <a:ext cx="437852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엔지니어 검증 완료된 순수 정상(none) 라벨 데이터 </a:t>
            </a: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147,431장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만 최종 추출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798" y="355909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 정제 전후 비교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7" y="1517972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811K</a:t>
            </a:r>
            <a:endParaRPr lang="en-US" sz="38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20962" y="219863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원본 데이터</a:t>
            </a:r>
            <a:endParaRPr 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3577" y="2508349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WM-811K 전체 수집 규모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65464" y="1517972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78.7%</a:t>
            </a:r>
            <a:endParaRPr lang="en-US" sz="38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62848" y="219863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Unlabeled 비율</a:t>
            </a:r>
            <a:endParaRPr 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65464" y="2508349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제거된 라벨 없는 데이터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3577" y="3121744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147K</a:t>
            </a:r>
            <a:endParaRPr lang="en-US" sz="38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20962" y="380241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 정제 데이터</a:t>
            </a:r>
            <a:endParaRPr 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3577" y="4112121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무결성 검증 완료 정상 데이터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5464" y="3121744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100%</a:t>
            </a:r>
            <a:endParaRPr lang="en-US" sz="38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62848" y="380241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 신뢰도</a:t>
            </a:r>
            <a:endParaRPr 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5464" y="4112121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 학습 데이터셋 품질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842" y="259517"/>
            <a:ext cx="4857899" cy="379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AWS 컴퓨팅 인프라 및 전처리 파이프라인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65" y="802516"/>
            <a:ext cx="3093765" cy="231636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453" y="778296"/>
            <a:ext cx="3093765" cy="9571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66456" y="2010221"/>
            <a:ext cx="1337221" cy="286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 인프라 스펙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4866455" y="2414863"/>
            <a:ext cx="3799149" cy="107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AWS EC2 g4dn.xlarge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– NVIDIA T4 GPU 가속 기반 고속 데이터 연산 환경 확보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Ubuntu 24.04 LTS + Conda 독립 환경 (</a:t>
            </a:r>
            <a:r>
              <a:rPr lang="ko-KR" altLang="en-US" sz="12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anomaly_env</a:t>
            </a: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– 라이브러리 간 충돌을 방지한 딥러닝 전용 인프라 격리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856321" y="3728345"/>
            <a:ext cx="2083853" cy="24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make_dataset.py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핵심 로직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907628" y="4138721"/>
            <a:ext cx="149572" cy="9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01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907628" y="4256295"/>
            <a:ext cx="1594396" cy="9525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07628" y="4334273"/>
            <a:ext cx="1102841" cy="4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예외 방어 구현</a:t>
            </a:r>
            <a:endParaRPr lang="ko-KR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07628" y="4530849"/>
            <a:ext cx="2083852" cy="478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빈 배열·비정형 타입을 처리하는 </a:t>
            </a:r>
            <a:r>
              <a:rPr lang="ko-KR" altLang="en-US" sz="10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sanitize_label</a:t>
            </a: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함수 독자 구현</a:t>
            </a:r>
            <a:endParaRPr lang="ko-KR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387F9F2-B2C0-36EF-AAA2-1E3EFCD7C90F}"/>
              </a:ext>
            </a:extLst>
          </p:cNvPr>
          <p:cNvGrpSpPr/>
          <p:nvPr/>
        </p:nvGrpSpPr>
        <p:grpSpPr>
          <a:xfrm>
            <a:off x="3642345" y="4129052"/>
            <a:ext cx="1594396" cy="127099"/>
            <a:chOff x="2539380" y="4138721"/>
            <a:chExt cx="1594396" cy="127099"/>
          </a:xfrm>
        </p:grpSpPr>
        <p:sp>
          <p:nvSpPr>
            <p:cNvPr id="13" name="Text 9"/>
            <p:cNvSpPr/>
            <p:nvPr/>
          </p:nvSpPr>
          <p:spPr>
            <a:xfrm>
              <a:off x="2539380" y="4138721"/>
              <a:ext cx="149572" cy="934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02</a:t>
              </a:r>
              <a:endParaRPr 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4" name="Shape 10"/>
            <p:cNvSpPr/>
            <p:nvPr/>
          </p:nvSpPr>
          <p:spPr>
            <a:xfrm>
              <a:off x="2539380" y="4256295"/>
              <a:ext cx="1594396" cy="9525"/>
            </a:xfrm>
            <a:prstGeom prst="rect">
              <a:avLst/>
            </a:prstGeom>
            <a:solidFill>
              <a:srgbClr val="D7425E"/>
            </a:solidFill>
            <a:ln/>
          </p:spPr>
          <p:txBody>
            <a:bodyPr/>
            <a:lstStyle/>
            <a:p>
              <a:endPara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15" name="Text 11"/>
          <p:cNvSpPr/>
          <p:nvPr/>
        </p:nvSpPr>
        <p:spPr>
          <a:xfrm>
            <a:off x="3642345" y="4316349"/>
            <a:ext cx="1245389" cy="179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통계적 분할 (7:2:1)</a:t>
            </a:r>
            <a:endParaRPr lang="ko-KR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642345" y="4526138"/>
            <a:ext cx="1935730" cy="33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train_test_split</a:t>
            </a: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연속 적용으로 Train / Val / Test 완벽 분할</a:t>
            </a:r>
            <a:endParaRPr lang="ko-KR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7895966-6822-CCEF-D3EB-301DA8AE9A91}"/>
              </a:ext>
            </a:extLst>
          </p:cNvPr>
          <p:cNvGrpSpPr/>
          <p:nvPr/>
        </p:nvGrpSpPr>
        <p:grpSpPr>
          <a:xfrm>
            <a:off x="6214410" y="4121903"/>
            <a:ext cx="1594396" cy="127099"/>
            <a:chOff x="4171131" y="4138721"/>
            <a:chExt cx="1594396" cy="127099"/>
          </a:xfrm>
        </p:grpSpPr>
        <p:sp>
          <p:nvSpPr>
            <p:cNvPr id="17" name="Text 13"/>
            <p:cNvSpPr/>
            <p:nvPr/>
          </p:nvSpPr>
          <p:spPr>
            <a:xfrm>
              <a:off x="4171131" y="4138721"/>
              <a:ext cx="149572" cy="934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03</a:t>
              </a:r>
              <a:endParaRPr 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8" name="Shape 14"/>
            <p:cNvSpPr/>
            <p:nvPr/>
          </p:nvSpPr>
          <p:spPr>
            <a:xfrm>
              <a:off x="4171131" y="4256295"/>
              <a:ext cx="1594396" cy="9525"/>
            </a:xfrm>
            <a:prstGeom prst="rect">
              <a:avLst/>
            </a:prstGeom>
            <a:solidFill>
              <a:srgbClr val="DD785E"/>
            </a:solidFill>
            <a:ln/>
          </p:spPr>
          <p:txBody>
            <a:bodyPr/>
            <a:lstStyle/>
            <a:p>
              <a:endPara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19" name="Text 15"/>
          <p:cNvSpPr/>
          <p:nvPr/>
        </p:nvSpPr>
        <p:spPr>
          <a:xfrm>
            <a:off x="6203677" y="4310292"/>
            <a:ext cx="1102841" cy="179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EBS 직렬화 저장</a:t>
            </a:r>
            <a:endParaRPr lang="ko-KR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184132" y="4518321"/>
            <a:ext cx="3045212" cy="513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14.7만 장의 다차원 행렬구조가 손실되지 않도록 전처리 →  </a:t>
            </a:r>
            <a:r>
              <a:rPr lang="ko-KR" altLang="en-US" sz="10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EBS</a:t>
            </a: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스토리지 내 고속 바이너리 </a:t>
            </a:r>
            <a:r>
              <a:rPr lang="ko-KR" altLang="en-US" sz="10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.pkl</a:t>
            </a:r>
            <a:r>
              <a:rPr lang="ko-KR" altLang="en-US" sz="10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파일로 영구 적재</a:t>
            </a:r>
            <a:endParaRPr lang="ko-KR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026"/>
            <a:ext cx="5922169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데이터 파이프라인 구축 완료 — 최종 분할 스펙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7" y="1144910"/>
            <a:ext cx="7302773" cy="48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b="1" dirty="0">
                <a:solidFill>
                  <a:srgbClr val="F2B42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[STATUS] Data pipeline sequence terminated successfully.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— 147,431장이 단 1장의 오차도 없이 분할되어 AWS </a:t>
            </a:r>
            <a:r>
              <a:rPr lang="ko-KR" altLang="en-US" sz="12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./processed_data/</a:t>
            </a: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폴더에 적재 완료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23577" y="2401119"/>
            <a:ext cx="8096845" cy="1205954"/>
          </a:xfrm>
          <a:prstGeom prst="roundRect">
            <a:avLst>
              <a:gd name="adj" fmla="val 18609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7865" y="2415406"/>
            <a:ext cx="2689399" cy="1177379"/>
          </a:xfrm>
          <a:prstGeom prst="roundRect">
            <a:avLst>
              <a:gd name="adj" fmla="val 19061"/>
            </a:avLst>
          </a:prstGeom>
          <a:solidFill>
            <a:srgbClr val="00002E"/>
          </a:solidFill>
          <a:ln/>
        </p:spPr>
        <p:txBody>
          <a:bodyPr/>
          <a:lstStyle/>
          <a:p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7437" y="256497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🎓</a:t>
            </a:r>
            <a:r>
              <a:rPr 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Train Subset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7437" y="2874690"/>
            <a:ext cx="239025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103,201장 (70%)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정상 데이터만 구성 — 모델 학습용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27263" y="2415406"/>
            <a:ext cx="2689399" cy="1177379"/>
          </a:xfrm>
          <a:prstGeom prst="rect">
            <a:avLst/>
          </a:prstGeom>
          <a:solidFill>
            <a:srgbClr val="00002E"/>
          </a:solidFill>
          <a:ln/>
        </p:spPr>
        <p:txBody>
          <a:bodyPr/>
          <a:lstStyle/>
          <a:p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27263" y="2415406"/>
            <a:ext cx="19050" cy="1177379"/>
          </a:xfrm>
          <a:prstGeom prst="roundRect">
            <a:avLst>
              <a:gd name="adj" fmla="val 1178055"/>
            </a:avLst>
          </a:prstGeom>
          <a:solidFill>
            <a:srgbClr val="F05B77"/>
          </a:solidFill>
          <a:ln/>
        </p:spPr>
        <p:txBody>
          <a:bodyPr/>
          <a:lstStyle/>
          <a:p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76836" y="256497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🔬</a:t>
            </a:r>
            <a:r>
              <a:rPr 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Validation Subset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76836" y="2874690"/>
            <a:ext cx="239025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29,486장 (20%)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과적합 방지 및 최적 가중치 선별용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16662" y="2415406"/>
            <a:ext cx="2539901" cy="1177379"/>
          </a:xfrm>
          <a:prstGeom prst="rect">
            <a:avLst/>
          </a:prstGeom>
          <a:solidFill>
            <a:srgbClr val="00002E"/>
          </a:solidFill>
          <a:ln/>
        </p:spPr>
        <p:txBody>
          <a:bodyPr/>
          <a:lstStyle/>
          <a:p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16662" y="2415406"/>
            <a:ext cx="19050" cy="1177379"/>
          </a:xfrm>
          <a:prstGeom prst="roundRect">
            <a:avLst>
              <a:gd name="adj" fmla="val 1178055"/>
            </a:avLst>
          </a:prstGeom>
          <a:solidFill>
            <a:srgbClr val="C35E44"/>
          </a:solidFill>
          <a:ln/>
        </p:spPr>
        <p:txBody>
          <a:bodyPr/>
          <a:lstStyle/>
          <a:p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66234" y="256497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🧪</a:t>
            </a:r>
            <a:r>
              <a:rPr 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Test Subset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66234" y="2874690"/>
            <a:ext cx="2390329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14,744장 (10%)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 불량 복원 성능 정밀 평가용</a:t>
            </a:r>
            <a:endParaRPr lang="ko-KR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075" y="336798"/>
            <a:ext cx="5255161" cy="352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Convolutional AutoEncoder(CAE) 설계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55" y="889322"/>
            <a:ext cx="3798912" cy="379891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55" y="889322"/>
            <a:ext cx="3798912" cy="379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4996" y="1920033"/>
            <a:ext cx="18872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왜 CAE인가?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4724995" y="2197522"/>
            <a:ext cx="3892165" cy="451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이미지의 공간적 구조와 픽셀 특징 보존 능력이 탁월한 딥러닝 아키텍처로, 반도체 웨이퍼 맵의 패턴 학습에 최적화되어 있습니다.</a:t>
            </a:r>
            <a:endParaRPr lang="en-US" altLang="ko-KR" sz="11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lnSpc>
                <a:spcPct val="121000"/>
              </a:lnSpc>
              <a:buNone/>
            </a:pP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4724995" y="3034457"/>
            <a:ext cx="18872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이상 탐지 원리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4724995" y="3311947"/>
            <a:ext cx="3798912" cy="597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정상 데이터만 학습 → 정상의 특징을 완벽 마스터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결함 데이터 입력 시 복원 불가 → 큰 복원 오차(</a:t>
            </a:r>
            <a:r>
              <a:rPr lang="ko-KR" altLang="en-US" sz="1100" i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Loss</a:t>
            </a: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발생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오차 임계값 초과 시 </a:t>
            </a:r>
            <a:r>
              <a:rPr lang="ko-KR" altLang="en-US" sz="11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이상(불량)으로 자동 판정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221" y="310678"/>
            <a:ext cx="3920053" cy="36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FFFFFF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향후 학습 로드맵 및 비교 실험 계획</a:t>
            </a:r>
            <a:endParaRPr 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5433" y="962546"/>
            <a:ext cx="14288" cy="3134320"/>
          </a:xfrm>
          <a:prstGeom prst="roundRect">
            <a:avLst>
              <a:gd name="adj" fmla="val 1374352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8411" y="1102668"/>
            <a:ext cx="392683" cy="14288"/>
          </a:xfrm>
          <a:prstGeom prst="roundRect">
            <a:avLst>
              <a:gd name="adj" fmla="val 1374352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8167" y="962546"/>
            <a:ext cx="294531" cy="294531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3048" y="994321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59979" y="1007492"/>
            <a:ext cx="172685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Phase 1 — 장기 학습 가동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59979" y="1268685"/>
            <a:ext cx="7425854" cy="201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tmux</a:t>
            </a: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/ </a:t>
            </a:r>
            <a:r>
              <a:rPr lang="ko-KR" altLang="en-US" sz="1100" dirty="0">
                <a:solidFill>
                  <a:srgbClr val="FFFFFF"/>
                </a:solidFill>
                <a:highlight>
                  <a:srgbClr val="0D0D3B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nohup</a:t>
            </a: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으로 백그라운드 훈련 지속, 10 에포크마다 Checkpoint 자동 저장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8411" y="1838920"/>
            <a:ext cx="392683" cy="14288"/>
          </a:xfrm>
          <a:prstGeom prst="roundRect">
            <a:avLst>
              <a:gd name="adj" fmla="val 1374352"/>
            </a:avLst>
          </a:prstGeom>
          <a:solidFill>
            <a:srgbClr val="D7425E"/>
          </a:solidFill>
          <a:ln/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8167" y="1698799"/>
            <a:ext cx="294531" cy="294531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3048" y="1730573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59979" y="1743745"/>
            <a:ext cx="3453408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Phase 2 — 하이퍼파라미터 및 모델 Complexity 비교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59979" y="2004938"/>
            <a:ext cx="742585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Baseline 모델(인코더/디코더 3층)</a:t>
            </a: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대비 레이어를 깊게 확장한 대형 Deep CAE 모델(5층 이상)의 압축률 및 복원 손실률(MSE Loss) 수렴 속도 비교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8411" y="2766715"/>
            <a:ext cx="392683" cy="14288"/>
          </a:xfrm>
          <a:prstGeom prst="roundRect">
            <a:avLst>
              <a:gd name="adj" fmla="val 1374352"/>
            </a:avLst>
          </a:prstGeom>
          <a:solidFill>
            <a:srgbClr val="DD785E"/>
          </a:solidFill>
          <a:ln/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8167" y="2626593"/>
            <a:ext cx="294531" cy="294531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3048" y="2658368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endParaRPr 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59979" y="2671539"/>
            <a:ext cx="31915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Phase 3 — 데이터 파이프라인 (증강/전처리) 비교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59979" y="2932733"/>
            <a:ext cx="756912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실험 A (영상 전처리):</a:t>
            </a: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반도체 웨이퍼 행렬 특성 최적화를 위한 </a:t>
            </a:r>
            <a:r>
              <a:rPr lang="ko-KR" altLang="en-US" sz="11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OpenCV 기반 CLAHE(대비 극대화)</a:t>
            </a: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알고리즘 적용 유무 비교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실험 B (데이터 증강):</a:t>
            </a: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10만 장 데이터 기반 원본 학습 vs 물리적 회전/반전(Rotation, Flip)을 통한 기하학적 노이즈 강건성 상호 비교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8411" y="3734544"/>
            <a:ext cx="392683" cy="14288"/>
          </a:xfrm>
          <a:prstGeom prst="roundRect">
            <a:avLst>
              <a:gd name="adj" fmla="val 1374352"/>
            </a:avLst>
          </a:prstGeom>
          <a:solidFill>
            <a:srgbClr val="48A8E2"/>
          </a:solidFill>
          <a:ln/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8167" y="3594422"/>
            <a:ext cx="294531" cy="294531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3048" y="3626197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endParaRPr 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59979" y="3639369"/>
            <a:ext cx="172685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Phase 4 — 최종 성능 평가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59979" y="3900562"/>
            <a:ext cx="742585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Test Subset(14,744장)을 활용한 불량 복원 성능 정밀 검증 및 보고서 작성</a:t>
            </a:r>
            <a:endParaRPr lang="ko-KR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8167" y="4298750"/>
            <a:ext cx="8227665" cy="511969"/>
          </a:xfrm>
          <a:prstGeom prst="roundRect">
            <a:avLst>
              <a:gd name="adj" fmla="val 38355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ko-KR" altLang="en-US" sz="11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62" y="4490589"/>
            <a:ext cx="163637" cy="13089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83593" y="4445941"/>
            <a:ext cx="8128546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데이터셋 완료 → 본격적인 대규모 AI 모델 학습 시작 +  모델 성능 비교 예정</a:t>
            </a:r>
            <a:endParaRPr lang="ko-KR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756</Words>
  <Application>Microsoft Office PowerPoint</Application>
  <PresentationFormat>화면 슬라이드 쇼(16:9)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PT Sans</vt:lpstr>
      <vt:lpstr>Pretendard Black</vt:lpstr>
      <vt:lpstr>Pretendard SemiBold</vt:lpstr>
      <vt:lpstr>Pretendard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수정 임</cp:lastModifiedBy>
  <cp:revision>8</cp:revision>
  <dcterms:created xsi:type="dcterms:W3CDTF">2026-05-29T10:14:00Z</dcterms:created>
  <dcterms:modified xsi:type="dcterms:W3CDTF">2026-06-01T14:22:04Z</dcterms:modified>
</cp:coreProperties>
</file>